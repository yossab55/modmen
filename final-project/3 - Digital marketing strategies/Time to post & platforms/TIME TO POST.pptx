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Corbel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MRrE/XDskLZLPLrpESRkRnfgH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orbel-boldItalic.fntdata"/><Relationship Id="rId10" Type="http://schemas.openxmlformats.org/officeDocument/2006/relationships/font" Target="fonts/Corbel-italic.fntdata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Corbel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Corbel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2">
  <p:cSld name="Content Photo 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823393" y="1343906"/>
            <a:ext cx="3736800" cy="39336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180000" spcFirstLastPara="1" rIns="180000" wrap="square" tIns="180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5"/>
          <p:cNvSpPr/>
          <p:nvPr>
            <p:ph idx="2" type="pic"/>
          </p:nvPr>
        </p:nvSpPr>
        <p:spPr>
          <a:xfrm>
            <a:off x="7560193" y="1344803"/>
            <a:ext cx="3737526" cy="3933645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32000" y="432000"/>
            <a:ext cx="9131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body"/>
          </p:nvPr>
        </p:nvSpPr>
        <p:spPr>
          <a:xfrm>
            <a:off x="431800" y="1008000"/>
            <a:ext cx="689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6"/>
          <p:cNvSpPr txBox="1"/>
          <p:nvPr>
            <p:ph type="ctrTitle"/>
          </p:nvPr>
        </p:nvSpPr>
        <p:spPr>
          <a:xfrm>
            <a:off x="286990" y="4346296"/>
            <a:ext cx="6798250" cy="16744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7326418" y="4650539"/>
            <a:ext cx="2456210" cy="1192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2520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6"/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6"/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Small Image" showMasterSp="0">
  <p:cSld name="Title Slide with Small Imag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>
            <p:ph idx="2" type="pic"/>
          </p:nvPr>
        </p:nvSpPr>
        <p:spPr>
          <a:xfrm>
            <a:off x="9980476" y="0"/>
            <a:ext cx="221152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7" name="Google Shape;37;p7"/>
          <p:cNvSpPr txBox="1"/>
          <p:nvPr>
            <p:ph type="ctrTitle"/>
          </p:nvPr>
        </p:nvSpPr>
        <p:spPr>
          <a:xfrm>
            <a:off x="286990" y="4346296"/>
            <a:ext cx="6798250" cy="16744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subTitle"/>
          </p:nvPr>
        </p:nvSpPr>
        <p:spPr>
          <a:xfrm>
            <a:off x="7311904" y="4650539"/>
            <a:ext cx="3401478" cy="11920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2520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7"/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7"/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Large Image">
  <p:cSld name="Title Slide with Large Image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>
            <p:ph idx="2" type="pic"/>
          </p:nvPr>
        </p:nvSpPr>
        <p:spPr>
          <a:xfrm>
            <a:off x="69273" y="63691"/>
            <a:ext cx="9911201" cy="6727346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sp>
      <p:sp>
        <p:nvSpPr>
          <p:cNvPr id="44" name="Google Shape;44;p8"/>
          <p:cNvSpPr txBox="1"/>
          <p:nvPr>
            <p:ph type="ctrTitle"/>
          </p:nvPr>
        </p:nvSpPr>
        <p:spPr>
          <a:xfrm>
            <a:off x="286990" y="4346296"/>
            <a:ext cx="6798250" cy="16744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7326418" y="4650539"/>
            <a:ext cx="2456210" cy="1192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2520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8"/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">
  <p:cSld name="Content Photo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>
            <p:ph idx="2" type="pic"/>
          </p:nvPr>
        </p:nvSpPr>
        <p:spPr>
          <a:xfrm>
            <a:off x="9980476" y="0"/>
            <a:ext cx="2211524" cy="619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4445086" y="1807950"/>
            <a:ext cx="5184913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4444886" y="2383950"/>
            <a:ext cx="5184913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445000" y="2908300"/>
            <a:ext cx="5184800" cy="328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180000" spcFirstLastPara="1" rIns="252000" wrap="square" tIns="25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with Subtitle">
  <p:cSld name="Comparison with Sub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32000" y="432000"/>
            <a:ext cx="9198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431800" y="1008000"/>
            <a:ext cx="9198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2" type="body"/>
          </p:nvPr>
        </p:nvSpPr>
        <p:spPr>
          <a:xfrm>
            <a:off x="432000" y="1432296"/>
            <a:ext cx="4500000" cy="5270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0000" spcFirstLastPara="1" rIns="0" wrap="square" tIns="36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3" type="body"/>
          </p:nvPr>
        </p:nvSpPr>
        <p:spPr>
          <a:xfrm>
            <a:off x="432000" y="2023668"/>
            <a:ext cx="4500000" cy="4168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4" type="body"/>
          </p:nvPr>
        </p:nvSpPr>
        <p:spPr>
          <a:xfrm>
            <a:off x="5129800" y="1433105"/>
            <a:ext cx="4500000" cy="52528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0000" spcFirstLastPara="1" rIns="0" wrap="square" tIns="36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5" type="body"/>
          </p:nvPr>
        </p:nvSpPr>
        <p:spPr>
          <a:xfrm>
            <a:off x="5129800" y="2020359"/>
            <a:ext cx="4500000" cy="417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hoto">
  <p:cSld name="Large Photo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>
            <p:ph idx="2" type="pic"/>
          </p:nvPr>
        </p:nvSpPr>
        <p:spPr>
          <a:xfrm>
            <a:off x="6299200" y="432000"/>
            <a:ext cx="5472113" cy="5759250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3875314" y="5096632"/>
            <a:ext cx="2028686" cy="10946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1"/>
          <p:cNvSpPr txBox="1"/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ctrTitle"/>
          </p:nvPr>
        </p:nvSpPr>
        <p:spPr>
          <a:xfrm>
            <a:off x="2174360" y="2112793"/>
            <a:ext cx="6798250" cy="1674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2"/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2174361" y="4035727"/>
            <a:ext cx="3329850" cy="38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2" type="body"/>
          </p:nvPr>
        </p:nvSpPr>
        <p:spPr>
          <a:xfrm>
            <a:off x="6062268" y="4150118"/>
            <a:ext cx="2910342" cy="23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1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3" type="body"/>
          </p:nvPr>
        </p:nvSpPr>
        <p:spPr>
          <a:xfrm>
            <a:off x="6062268" y="4540691"/>
            <a:ext cx="2910342" cy="23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1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4" type="body"/>
          </p:nvPr>
        </p:nvSpPr>
        <p:spPr>
          <a:xfrm>
            <a:off x="6062268" y="4931263"/>
            <a:ext cx="2910342" cy="23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1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and Content">
  <p:cSld name="Title, Subtitle,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431801" y="1008000"/>
            <a:ext cx="9198116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32000" y="432000"/>
            <a:ext cx="9198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431800" y="1008000"/>
            <a:ext cx="9198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2" type="body"/>
          </p:nvPr>
        </p:nvSpPr>
        <p:spPr>
          <a:xfrm>
            <a:off x="432000" y="1512000"/>
            <a:ext cx="2916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" type="body"/>
          </p:nvPr>
        </p:nvSpPr>
        <p:spPr>
          <a:xfrm>
            <a:off x="3572900" y="1511476"/>
            <a:ext cx="2916000" cy="467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4" type="body"/>
          </p:nvPr>
        </p:nvSpPr>
        <p:spPr>
          <a:xfrm>
            <a:off x="6713800" y="1511475"/>
            <a:ext cx="2916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">
  <p:cSld name="5 Colum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32000" y="432000"/>
            <a:ext cx="9198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31800" y="1008000"/>
            <a:ext cx="9198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432000" y="1512000"/>
            <a:ext cx="1764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3" type="body"/>
          </p:nvPr>
        </p:nvSpPr>
        <p:spPr>
          <a:xfrm>
            <a:off x="2290450" y="1512000"/>
            <a:ext cx="1764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4" type="body"/>
          </p:nvPr>
        </p:nvSpPr>
        <p:spPr>
          <a:xfrm>
            <a:off x="4148900" y="1512000"/>
            <a:ext cx="1764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5" type="body"/>
          </p:nvPr>
        </p:nvSpPr>
        <p:spPr>
          <a:xfrm>
            <a:off x="6007350" y="1507535"/>
            <a:ext cx="1764000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6" type="body"/>
          </p:nvPr>
        </p:nvSpPr>
        <p:spPr>
          <a:xfrm>
            <a:off x="7865800" y="1507535"/>
            <a:ext cx="1764000" cy="46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31801" y="1008000"/>
            <a:ext cx="9198116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7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6532775" y="3639199"/>
            <a:ext cx="5053936" cy="1192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2520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6532775" y="993303"/>
            <a:ext cx="5053936" cy="2513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432000" y="432000"/>
            <a:ext cx="9198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32000" y="1046375"/>
            <a:ext cx="9198000" cy="513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32000" y="432000"/>
            <a:ext cx="9198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432000" y="1046376"/>
            <a:ext cx="4435831" cy="513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2" type="body"/>
          </p:nvPr>
        </p:nvSpPr>
        <p:spPr>
          <a:xfrm>
            <a:off x="5194169" y="1046376"/>
            <a:ext cx="4435831" cy="513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32000" y="432000"/>
            <a:ext cx="9198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432000" y="1068420"/>
            <a:ext cx="4434840" cy="8239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20"/>
          <p:cNvSpPr txBox="1"/>
          <p:nvPr>
            <p:ph idx="2" type="body"/>
          </p:nvPr>
        </p:nvSpPr>
        <p:spPr>
          <a:xfrm>
            <a:off x="5195160" y="1068420"/>
            <a:ext cx="4434840" cy="8239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3" name="Google Shape;133;p20"/>
          <p:cNvSpPr txBox="1"/>
          <p:nvPr>
            <p:ph idx="3" type="body"/>
          </p:nvPr>
        </p:nvSpPr>
        <p:spPr>
          <a:xfrm>
            <a:off x="432001" y="2096752"/>
            <a:ext cx="4434840" cy="4092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4" type="body"/>
          </p:nvPr>
        </p:nvSpPr>
        <p:spPr>
          <a:xfrm>
            <a:off x="5195160" y="2096752"/>
            <a:ext cx="4434840" cy="4092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432001" y="457200"/>
            <a:ext cx="315961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432001" y="2057400"/>
            <a:ext cx="3159612" cy="41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21"/>
          <p:cNvSpPr txBox="1"/>
          <p:nvPr>
            <p:ph idx="2" type="body"/>
          </p:nvPr>
        </p:nvSpPr>
        <p:spPr>
          <a:xfrm>
            <a:off x="3770722" y="457201"/>
            <a:ext cx="6023727" cy="5726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2"/>
          <p:cNvSpPr txBox="1"/>
          <p:nvPr>
            <p:ph type="title"/>
          </p:nvPr>
        </p:nvSpPr>
        <p:spPr>
          <a:xfrm>
            <a:off x="432001" y="457200"/>
            <a:ext cx="315961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432001" y="2057400"/>
            <a:ext cx="3159612" cy="41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22"/>
          <p:cNvSpPr/>
          <p:nvPr>
            <p:ph idx="2" type="pic"/>
          </p:nvPr>
        </p:nvSpPr>
        <p:spPr>
          <a:xfrm>
            <a:off x="3788021" y="457201"/>
            <a:ext cx="5949868" cy="572678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32000" y="432000"/>
            <a:ext cx="9198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4"/>
          <p:cNvSpPr/>
          <p:nvPr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"/>
          <p:cNvSpPr txBox="1"/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1" type="ftr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1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4"/>
          <p:cNvSpPr txBox="1"/>
          <p:nvPr/>
        </p:nvSpPr>
        <p:spPr>
          <a:xfrm>
            <a:off x="9630116" y="6346108"/>
            <a:ext cx="1662546" cy="404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spAutoFit/>
          </a:bodyPr>
          <a:lstStyle/>
          <a:p>
            <a:pPr indent="0" lvl="0" marL="0" marR="0" rtl="0" algn="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rPr>
              <a:t>WOODGROVE</a:t>
            </a:r>
            <a:r>
              <a:rPr b="1" i="0" lang="en-US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BANK</a:t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4"/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type="title"/>
          </p:nvPr>
        </p:nvSpPr>
        <p:spPr>
          <a:xfrm>
            <a:off x="432000" y="432000"/>
            <a:ext cx="9131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OUR PLATFORMS:</a:t>
            </a:r>
            <a:endParaRPr/>
          </a:p>
        </p:txBody>
      </p:sp>
      <p:sp>
        <p:nvSpPr>
          <p:cNvPr id="160" name="Google Shape;160;p1"/>
          <p:cNvSpPr txBox="1"/>
          <p:nvPr>
            <p:ph idx="1" type="body"/>
          </p:nvPr>
        </p:nvSpPr>
        <p:spPr>
          <a:xfrm>
            <a:off x="841653" y="1092115"/>
            <a:ext cx="10884267" cy="2538981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180000" spcFirstLastPara="1" rIns="180000" wrap="square" tIns="18000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FACEBOOK &amp; ISTAGRAM:                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منصات تعتمد على القراءة والتغذية البصرية</a:t>
            </a:r>
            <a:endParaRPr sz="3200"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في الدول العربية، تشير دراسة إلى أن أفضل وقت للنشر هو بين الساعة 12 و3 ظهرا أو 6 و9 مساءً، لأنها تتزامن مع أوقات الراحة بعد العمل أو الدراسة.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أيام الاسبوع اللى فيها شغل حيث تكون السوشيال ميديا اداة انهم يفصلوا شوية</a:t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                             الأيام الأكثر نشاطًا: الإثنين، الثلاثاء، الأربعاء، والجمعة.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1143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</p:txBody>
      </p:sp>
      <p:sp>
        <p:nvSpPr>
          <p:cNvPr id="161" name="Google Shape;161;p1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2" name="Google Shape;162;p1"/>
          <p:cNvCxnSpPr/>
          <p:nvPr/>
        </p:nvCxnSpPr>
        <p:spPr>
          <a:xfrm flipH="1" rot="10800000">
            <a:off x="6283786" y="1526982"/>
            <a:ext cx="874643" cy="1325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3" name="Google Shape;163;p1"/>
          <p:cNvSpPr txBox="1"/>
          <p:nvPr/>
        </p:nvSpPr>
        <p:spPr>
          <a:xfrm>
            <a:off x="841653" y="3859211"/>
            <a:ext cx="10884267" cy="2538981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180000" spcFirstLastPara="1" rIns="180000" wrap="square" tIns="180000">
            <a:noAutofit/>
          </a:bodyPr>
          <a:lstStyle/>
          <a:p>
            <a:pPr indent="-266700" lvl="0" marL="266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YOUTUBE:</a:t>
            </a:r>
            <a:endParaRPr b="0" i="0" sz="32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يُعد النشر في فترة ما بعد الظهيرة والمساء، خاصة من 2 إلى 9 مساءً أو فى فترات الغداء والعشاء عشان كده فى ناس مبتاكلش غير لما تتفرج على حاجة.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D35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عطلات نهاية الأسبوع: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غالبًا ما تُظهر أيام الأربعاء، الخميس، والجمعة أعلى متوسط مشاهدات، وفقًا لبعض التحليلات.</a:t>
            </a:r>
            <a:r>
              <a:rPr b="1" i="0" lang="en-US" sz="2000" u="none" cap="none" strike="noStrike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3F3F3F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114300" lvl="0" marL="266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F3F3F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F3F3F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F3F3F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432000" y="432000"/>
            <a:ext cx="9131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OUR TARGET AUDIENCE:             ORGANIC REACH</a:t>
            </a:r>
            <a:endParaRPr/>
          </a:p>
        </p:txBody>
      </p:sp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786391" y="1065391"/>
            <a:ext cx="10939529" cy="5441425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0000" spcFirstLastPara="1" rIns="180000" wrap="square" tIns="18000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</a:pPr>
            <a:r>
              <a:rPr lang="en-US" sz="3200"/>
              <a:t>FOCUS ON KNOWING WHAT IS THE SUITABLE CONTENT IN THE SUITABLE TIME.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</a:pPr>
            <a:r>
              <a:rPr lang="en-US" sz="3200"/>
              <a:t>FOCUS ON INSIGHTS.       </a:t>
            </a: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 </a:t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ايه أول حاجة بتعملها أول ما تصحى من النوم </a:t>
            </a:r>
            <a:r>
              <a:rPr b="1" lang="en-US" sz="2400">
                <a:solidFill>
                  <a:srgbClr val="0C0C0C"/>
                </a:solidFill>
                <a:latin typeface="Arial Rounded"/>
                <a:ea typeface="Arial Rounded"/>
                <a:cs typeface="Arial Rounded"/>
                <a:sym typeface="Arial Rounded"/>
              </a:rPr>
              <a:t>يوم الجمعة </a:t>
            </a: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؟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  بتمسك الموبيل مش كده؟  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ايه أول حاجة بتفتحها؟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فيس بوك و واتس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يبقى كده لو هننشر محتوى على فيس بوك او انستا يوم الجمعة يكون الصبح.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Arial Rounded"/>
                <a:ea typeface="Arial Rounded"/>
                <a:cs typeface="Arial Rounded"/>
                <a:sym typeface="Arial Rounded"/>
              </a:rPr>
              <a:t>وبما ان الخميس والجمعة بيكونوا اجازات والناس بتخرج بليل فمش هننزل فيهم بليل.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 b="1" sz="28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 b="1" sz="28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266700" lvl="0" marL="2667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</a:pPr>
            <a:r>
              <a:rPr lang="en-US" sz="3200"/>
              <a:t>INSTAGRAM:</a:t>
            </a:r>
            <a:endParaRPr/>
          </a:p>
          <a:p>
            <a:pPr indent="-266700" lvl="0" marL="2667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</a:pPr>
            <a:r>
              <a:rPr lang="en-US" sz="3200"/>
              <a:t>YOUTUBE:</a:t>
            </a:r>
            <a:endParaRPr/>
          </a:p>
          <a:p>
            <a:pPr indent="-266700" lvl="0" marL="2667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</a:pPr>
            <a:r>
              <a:rPr lang="en-US" sz="3200"/>
              <a:t>  orem ipsum dolor sit amet. </a:t>
            </a:r>
            <a:endParaRPr/>
          </a:p>
          <a:p>
            <a:pPr indent="-266700" lvl="0" marL="2667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</a:pPr>
            <a:r>
              <a:rPr lang="en-US"/>
              <a:t>Ut fermentum a magna ut eleifend. Integer convallis suscipit ante eu varius. </a:t>
            </a:r>
            <a:endParaRPr/>
          </a:p>
          <a:p>
            <a:pPr indent="-266700" lvl="0" marL="2667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</a:pPr>
            <a:r>
              <a:rPr lang="en-US"/>
              <a:t>Suspendisse sit amet ipsum finibus justo viverra blandit. </a:t>
            </a:r>
            <a:endParaRPr/>
          </a:p>
          <a:p>
            <a:pPr indent="-266700" lvl="0" marL="2667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</a:pPr>
            <a:r>
              <a:rPr lang="en-US"/>
              <a:t>Ut congue quis tortor eget sodales. </a:t>
            </a:r>
            <a:endParaRPr/>
          </a:p>
          <a:p>
            <a:pPr indent="-152400" lvl="0" marL="2667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1" name="Google Shape;171;p2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2" name="Google Shape;172;p2"/>
          <p:cNvCxnSpPr/>
          <p:nvPr/>
        </p:nvCxnSpPr>
        <p:spPr>
          <a:xfrm flipH="1" rot="10800000">
            <a:off x="5224739" y="633392"/>
            <a:ext cx="874643" cy="1325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3" name="Google Shape;173;p2"/>
          <p:cNvSpPr txBox="1"/>
          <p:nvPr/>
        </p:nvSpPr>
        <p:spPr>
          <a:xfrm>
            <a:off x="1690605" y="5786297"/>
            <a:ext cx="9131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ممكن كمان ننزل </a:t>
            </a:r>
            <a:r>
              <a:rPr b="1" lang="en-US" sz="3200">
                <a:solidFill>
                  <a:schemeClr val="dk1"/>
                </a:solidFill>
              </a:rPr>
              <a:t>استبيان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يوم معين من الاسبوع وتكون فقرة تقربنا اكتر من الجمهور.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 txBox="1"/>
          <p:nvPr>
            <p:ph type="ctrTitle"/>
          </p:nvPr>
        </p:nvSpPr>
        <p:spPr>
          <a:xfrm>
            <a:off x="194225" y="212035"/>
            <a:ext cx="6798250" cy="945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RESOURCES:</a:t>
            </a:r>
            <a:endParaRPr/>
          </a:p>
        </p:txBody>
      </p:sp>
      <p:sp>
        <p:nvSpPr>
          <p:cNvPr id="180" name="Google Shape;180;p3"/>
          <p:cNvSpPr txBox="1"/>
          <p:nvPr>
            <p:ph idx="1" type="subTitle"/>
          </p:nvPr>
        </p:nvSpPr>
        <p:spPr>
          <a:xfrm>
            <a:off x="452585" y="1378225"/>
            <a:ext cx="5155095" cy="24781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252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/>
              <a:t>https://worldofbusiness.sa/social-media/%D8%A3%D9%81%D8%B6%D9%84-%D8%A3%D9%88%D9%82%D8%A7%D8%AA-%D8%A7%D9%84%D9%86%D8%B4%D8%B1-%D8%B9%D9%84%D9%89-%D8%A7%D9%84%D8%A7%D9%86%D8%B3%D8%AA%D9%82%D8%B1%D8%A7%D9%85/#:~:text=%D8%AC%D9%85%D9%87%D9%88%D8%B1%D9%83%20%D8%A7%D9%84%D9%81%D8%B1%D9%8A%D8%AF%3A%20%D8%A8%D8%A7%D9%84%D8%B7%D8%A8%D8%B9%20%D9%8A%D8%AE%D8%AA%D9%84%D9%81%20%D8%AC%D9%85%D9%87%D9%88%D8%B1,%D8%A7%D9%84%D9%81%D8%A6%D8%A9%20%D8%A7%D9%84%D9%85%D8%B3%D8%AA%D9%87%D8%AF%D9%81%D8%A9%20%D9%88%D9%84%D9%8A%D8%B3%20%D9%88%D9%82%D8%AA%D9%83%20%D8%A3%D9%86%D8%AA</a:t>
            </a:r>
            <a:endParaRPr/>
          </a:p>
        </p:txBody>
      </p:sp>
      <p:sp>
        <p:nvSpPr>
          <p:cNvPr id="181" name="Google Shape;181;p3"/>
          <p:cNvSpPr txBox="1"/>
          <p:nvPr>
            <p:ph idx="12" type="sldNum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3"/>
          <p:cNvSpPr txBox="1"/>
          <p:nvPr/>
        </p:nvSpPr>
        <p:spPr>
          <a:xfrm>
            <a:off x="1665159" y="3558208"/>
            <a:ext cx="5155095" cy="10535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52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https://combinerss.com/%D8%A3%D9%81%D8%B6%D9%84-%D8%A3%D9%88%D9%82%D8%A7%D8%AA-%D8%A7%D9%84%D9%86%D8%B4%D8%B1-%D8%B9%D9%84%D9%89-%D9%81%D9%8A%D8%B3%D8%A8%D9%88%D9%83-%D9%88%D8%A5%D9%86%D8%B3%D8%AA%D8%AC%D8%B1%D8%A7%D9%85/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770637" y="4876799"/>
            <a:ext cx="5155095" cy="6758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52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https://wpsocialninja.com/best-time-to-post-on-social-media/#the-best-time-to-post-on-youtube</a:t>
            </a:r>
            <a:endParaRPr b="0" i="1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021216" y="441601"/>
            <a:ext cx="5766054" cy="1431235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52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tawasulforum.org/article/digital-marketing/social-media-marketing/best-time-to-post-on-youtube/#:~:text=%D8%A3%D9%8A%D8%A7%D9%85%20%D8%A7%D9%84%D8%A3%D8%B1%D8%A8%D8%B9%D8%A7%D8%A1%D8%8C%20%D8%A7%D9%84%D8%AE%D9%85%D9%8A%D8%B3%D8%8C%20%D9%88%D8%A7%D9%84%D8%AC%D9%85%D8%B9%D8%A9%20%D9%87%D9%8A,%D8%A8%D9%8A%D9%86%20%D8%A7%D9%84%D8%B3%D8%A7%D8%B9%D8%A9%203%20%D9%885%20%D9%85%D8%B3%D8%A7%D8%A1%D9%8B.</a:t>
            </a:r>
            <a:endParaRPr b="0" i="1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6180781" y="1835219"/>
            <a:ext cx="5766054" cy="534366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52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https://quickframe.com/blog/best-time-to-post-on-youtube/#:~:text=Overall%2C%20it's%20best%20to%20post,12%20PM%20to%203%20PM.</a:t>
            </a:r>
            <a:endParaRPr b="0" i="1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2025-09-21T22:09:43Z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